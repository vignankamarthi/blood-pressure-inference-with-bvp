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7"/>
  </p:normalViewPr>
  <p:slideViewPr>
    <p:cSldViewPr snapToGrid="0" snapToObjects="1">
      <p:cViewPr varScale="1">
        <p:scale>
          <a:sx n="102" d="100"/>
          <a:sy n="102" d="100"/>
        </p:scale>
        <p:origin x="216" y="2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CUFFLESS BLOOD PRESSURE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4ECDC4"/>
                </a:solidFill>
                <a:latin typeface="Calibri"/>
              </a:rPr>
              <a:t>From Physiological Signals Using</a:t>
            </a:r>
          </a:p>
          <a:p>
            <a:pPr algn="l"/>
            <a:r>
              <a:rPr sz="2800" b="0" i="1">
                <a:solidFill>
                  <a:srgbClr val="4ECDC4"/>
                </a:solidFill>
                <a:latin typeface="Calibri"/>
              </a:rPr>
              <a:t>Feature Engineering and 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383280"/>
            <a:ext cx="2743200" cy="508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Vignan Kamarthi  &amp;  Ariv Ahuja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DS 4400: Machine Learning  |  Prof. Silvio Amir  |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github.com/vignankamarthi/Blood-Pressure-Inference-with-BVP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Clinical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371600" cy="508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D700"/>
                </a:solidFill>
                <a:latin typeface="Calibri"/>
              </a:rPr>
              <a:t>140/90 mmHg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B0B0B0"/>
                </a:solidFill>
                <a:latin typeface="Calibri"/>
              </a:rPr>
              <a:t>•  Hypertension threshold: leading cause of cardiovascular death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D0D0D0"/>
                </a:solidFill>
                <a:latin typeface="Calibri"/>
              </a:rPr>
              <a:t>•  Cuff-based measurement: infrequent, clinic-only, reactive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4ECDC4"/>
                </a:solidFill>
                <a:latin typeface="Calibri"/>
              </a:rPr>
              <a:t>•  PPG from wearables: continuous, passive, preventive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PulseDB v2.0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MIMIC + VitalDB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8346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FFD700"/>
                </a:solidFill>
                <a:latin typeface="Calibri"/>
              </a:rPr>
              <a:t>•  5.2M segments, 5,361 subjects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B0B0B0"/>
                </a:solidFill>
                <a:latin typeface="Calibri"/>
              </a:rPr>
              <a:t>•  3 signals: PPG, ECG, ABP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B0B0B0"/>
                </a:solidFill>
                <a:latin typeface="Calibri"/>
              </a:rPr>
              <a:t>•  125 Hz, 10-second windows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D0D0D0"/>
                </a:solidFill>
                <a:latin typeface="Calibri"/>
              </a:rPr>
              <a:t>•  CalFree protocol: train/test by subject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4ECDC4"/>
                </a:solidFill>
                <a:latin typeface="Calibri"/>
              </a:rPr>
              <a:t>Two-track experiment: handcrafted features vs. learned representations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 4400  |  Spring 2026  |  Northeastern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Two-Track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371600" cy="508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943600" cy="4086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ECDC4"/>
                </a:solidFill>
                <a:latin typeface="Calibri"/>
              </a:rPr>
              <a:t>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700" b="0" i="0">
                <a:solidFill>
                  <a:srgbClr val="B0B0B0"/>
                </a:solidFill>
                <a:latin typeface="Calibri"/>
              </a:rPr>
              <a:t>•  Catch22 (22) + Entropy (10) + Stats (8)</a:t>
            </a:r>
          </a:p>
          <a:p>
            <a:pPr algn="l">
              <a:spcAft>
                <a:spcPts val="1600"/>
              </a:spcAft>
            </a:pPr>
            <a:r>
              <a:rPr sz="1700" b="0" i="0">
                <a:solidFill>
                  <a:srgbClr val="B0B0B0"/>
                </a:solidFill>
                <a:latin typeface="Calibri"/>
              </a:rPr>
              <a:t>•  Rust extraction: 40 features per signal</a:t>
            </a:r>
          </a:p>
          <a:p>
            <a:pPr algn="l">
              <a:spcAft>
                <a:spcPts val="1600"/>
              </a:spcAft>
            </a:pPr>
            <a:r>
              <a:rPr sz="1700" b="0" i="0">
                <a:solidFill>
                  <a:srgbClr val="D0D0D0"/>
                </a:solidFill>
                <a:latin typeface="Calibri"/>
              </a:rPr>
              <a:t>•  Optuna tuning: 30 trials per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  <a:latin typeface="Calibri"/>
              </a:rPr>
              <a:t>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700" b="0" i="0">
                <a:solidFill>
                  <a:srgbClr val="B0B0B0"/>
                </a:solidFill>
                <a:latin typeface="Calibri"/>
              </a:rPr>
              <a:t>•  ResNet-BiGRU: residual blocks + bidirectional GRU</a:t>
            </a:r>
          </a:p>
          <a:p>
            <a:pPr algn="l">
              <a:spcAft>
                <a:spcPts val="1600"/>
              </a:spcAft>
            </a:pPr>
            <a:r>
              <a:rPr sz="1700" b="0" i="0">
                <a:solidFill>
                  <a:srgbClr val="B0B0B0"/>
                </a:solidFill>
                <a:latin typeface="Calibri"/>
              </a:rPr>
              <a:t>•  ResNet-1D baseline for comparison</a:t>
            </a:r>
          </a:p>
          <a:p>
            <a:pPr algn="l">
              <a:spcAft>
                <a:spcPts val="1600"/>
              </a:spcAft>
            </a:pPr>
            <a:r>
              <a:rPr sz="1700" b="0" i="0">
                <a:solidFill>
                  <a:srgbClr val="D0D0D0"/>
                </a:solidFill>
                <a:latin typeface="Calibri"/>
              </a:rPr>
              <a:t>•  GradientSHAP temporal attribution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 4400  |  Spring 2026  |  Northeastern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Key Results (CalFree Test Set)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371600" cy="508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sult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943600" cy="38389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3716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D700"/>
                </a:solidFill>
                <a:latin typeface="Calibri"/>
              </a:rPr>
              <a:t>13.61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B0B0"/>
                </a:solidFill>
                <a:latin typeface="Calibri"/>
              </a:rPr>
              <a:t>SBP MAE (mmHg)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200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ECDC4"/>
                </a:solidFill>
                <a:latin typeface="Calibri"/>
              </a:rPr>
              <a:t>BHS Grade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for DBP (best model)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4800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700" b="0" i="0" dirty="0">
                <a:solidFill>
                  <a:srgbClr val="B0B0B0"/>
                </a:solidFill>
                <a:latin typeface="Calibri"/>
              </a:rPr>
              <a:t>•  ECG adds only 0.03 mmHg improvement over PPG alone</a:t>
            </a:r>
          </a:p>
          <a:p>
            <a:pPr algn="l">
              <a:spcAft>
                <a:spcPts val="1600"/>
              </a:spcAft>
            </a:pPr>
            <a:r>
              <a:rPr sz="1700" b="0" i="0" dirty="0">
                <a:solidFill>
                  <a:srgbClr val="B0B0B0"/>
                </a:solidFill>
                <a:latin typeface="Calibri"/>
              </a:rPr>
              <a:t>•  All models fail AAMI standard (SD &gt; 8 mmHg)</a:t>
            </a:r>
          </a:p>
          <a:p>
            <a:pPr algn="l">
              <a:spcAft>
                <a:spcPts val="1600"/>
              </a:spcAft>
            </a:pPr>
            <a:r>
              <a:rPr sz="1700" b="0" i="0" dirty="0">
                <a:solidFill>
                  <a:srgbClr val="B0B0B0"/>
                </a:solidFill>
                <a:latin typeface="Calibri"/>
              </a:rPr>
              <a:t>•  Consistent with </a:t>
            </a:r>
            <a:r>
              <a:rPr sz="1700" b="0" i="0" dirty="0" err="1">
                <a:solidFill>
                  <a:srgbClr val="B0B0B0"/>
                </a:solidFill>
                <a:latin typeface="Calibri"/>
              </a:rPr>
              <a:t>PulseDB</a:t>
            </a:r>
            <a:r>
              <a:rPr sz="1700" b="0" i="0" dirty="0">
                <a:solidFill>
                  <a:srgbClr val="B0B0B0"/>
                </a:solidFill>
                <a:latin typeface="Calibri"/>
              </a:rPr>
              <a:t> benchmark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 4400  |  Spring 2026  |  Northeastern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We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371600" cy="508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4ECDC4"/>
                </a:solidFill>
                <a:latin typeface="Calibri"/>
              </a:rPr>
              <a:t>•   PPG alone is sufficient for wearable BP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D700"/>
                </a:solidFill>
                <a:latin typeface="Calibri"/>
              </a:rPr>
              <a:t>•   Deep learning outperforms feature engineering by 0.85 mmHg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0B0B0"/>
                </a:solidFill>
                <a:latin typeface="Calibri"/>
              </a:rPr>
              <a:t>•   AAMI compliance remains an open challenge for the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kamarthi.v@northeastern.edu  |  ahuja.ar@northeastern.edu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 4400  |  Spring 2026  |  Northeastern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311</Words>
  <Application>Microsoft Macintosh PowerPoint</Application>
  <PresentationFormat>Widescreen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Vignan Kamarthi</cp:lastModifiedBy>
  <cp:revision>2</cp:revision>
  <dcterms:created xsi:type="dcterms:W3CDTF">2013-01-27T09:14:16Z</dcterms:created>
  <dcterms:modified xsi:type="dcterms:W3CDTF">2026-04-08T01:50:24Z</dcterms:modified>
  <cp:category/>
</cp:coreProperties>
</file>